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939" r:id="rId1"/>
  </p:sldMasterIdLst>
  <p:sldIdLst>
    <p:sldId id="256" r:id="rId2"/>
    <p:sldId id="257" r:id="rId3"/>
    <p:sldId id="286" r:id="rId4"/>
    <p:sldId id="287" r:id="rId5"/>
    <p:sldId id="288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B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40" d="100"/>
          <a:sy n="140" d="100"/>
        </p:scale>
        <p:origin x="132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9752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6622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896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750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9947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742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0944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54398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9152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977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333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5851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0" r:id="rId1"/>
    <p:sldLayoutId id="2147483941" r:id="rId2"/>
    <p:sldLayoutId id="2147483942" r:id="rId3"/>
    <p:sldLayoutId id="2147483943" r:id="rId4"/>
    <p:sldLayoutId id="2147483944" r:id="rId5"/>
    <p:sldLayoutId id="2147483945" r:id="rId6"/>
    <p:sldLayoutId id="2147483946" r:id="rId7"/>
    <p:sldLayoutId id="2147483947" r:id="rId8"/>
    <p:sldLayoutId id="2147483948" r:id="rId9"/>
    <p:sldLayoutId id="2147483949" r:id="rId10"/>
    <p:sldLayoutId id="214748395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386290" y="2607278"/>
            <a:ext cx="7897091" cy="1175153"/>
          </a:xfrm>
        </p:spPr>
        <p:txBody>
          <a:bodyPr>
            <a:noAutofit/>
          </a:bodyPr>
          <a:lstStyle/>
          <a:p>
            <a:r>
              <a:rPr lang="ru-RU" sz="5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Магазин спортивной обуви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3048000" y="202935"/>
            <a:ext cx="666920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Министерство образования и науки Нижегородской области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Государственное бюджетное профессиональное 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образовательное учреждение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«Заволжский автомоторный техникум»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(ГБПОУ ЗАМТ)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5313218" y="6026360"/>
            <a:ext cx="1565564" cy="7232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just">
              <a:spcBef>
                <a:spcPts val="600"/>
              </a:spcBef>
              <a:spcAft>
                <a:spcPts val="0"/>
              </a:spcAft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Заволжье</a:t>
            </a:r>
          </a:p>
          <a:p>
            <a:pPr marL="180340" marR="180340" algn="ctr">
              <a:spcBef>
                <a:spcPts val="600"/>
              </a:spcBef>
              <a:spcAft>
                <a:spcPts val="0"/>
              </a:spcAft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2025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7961FB-6351-2BD7-16B8-3B55C0FAE19F}"/>
              </a:ext>
            </a:extLst>
          </p:cNvPr>
          <p:cNvSpPr txBox="1"/>
          <p:nvPr/>
        </p:nvSpPr>
        <p:spPr>
          <a:xfrm>
            <a:off x="9062113" y="5255357"/>
            <a:ext cx="37480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Выполнил: </a:t>
            </a:r>
            <a:r>
              <a:rPr lang="ru-RU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Томин Андрей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ИС-22А</a:t>
            </a:r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4C62040F-BA6D-56F4-916C-B7FF4CB04D8C}"/>
              </a:ext>
            </a:extLst>
          </p:cNvPr>
          <p:cNvSpPr/>
          <p:nvPr/>
        </p:nvSpPr>
        <p:spPr>
          <a:xfrm>
            <a:off x="5202071" y="4123307"/>
            <a:ext cx="1787857" cy="1685499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05341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350525" y="136479"/>
            <a:ext cx="6216557" cy="758825"/>
          </a:xfrm>
          <a:noFill/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приложения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52450" y="2204113"/>
            <a:ext cx="11087100" cy="4653887"/>
          </a:xfrm>
        </p:spPr>
        <p:txBody>
          <a:bodyPr>
            <a:noAutofit/>
          </a:bodyPr>
          <a:lstStyle/>
          <a:p>
            <a:pPr marL="0" indent="54000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Приложение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ShoeStore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сделано с использованием современных технологий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Android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-разработки. Оно имеет продуманную структуру, где логика, интерфейс и данные разделены, что упрощает его развитие и тестирование. Работа с сервером и обновление экранов организованы так, чтобы приложение всегда было плавным и отзывчивым. </a:t>
            </a:r>
          </a:p>
          <a:p>
            <a:pPr marL="0" indent="54000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Пользовательский интерфейс создан с помощью современных инструментов, что делает его красивым и удобным для любого размера экрана.</a:t>
            </a:r>
          </a:p>
        </p:txBody>
      </p:sp>
    </p:spTree>
    <p:extLst>
      <p:ext uri="{BB962C8B-B14F-4D97-AF65-F5344CB8AC3E}">
        <p14:creationId xmlns:p14="http://schemas.microsoft.com/office/powerpoint/2010/main" val="3950111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35875" y="136479"/>
            <a:ext cx="8236423" cy="758825"/>
          </a:xfrm>
          <a:noFill/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Диаграмма вариантов использования</a:t>
            </a:r>
            <a:endParaRPr lang="ru-RU" sz="40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3EF3B6B-FF3A-292F-8210-469CA1F17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553" y="1054984"/>
            <a:ext cx="6190893" cy="5061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305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24585" y="136479"/>
            <a:ext cx="8291015" cy="758825"/>
          </a:xfrm>
          <a:noFill/>
        </p:spPr>
        <p:txBody>
          <a:bodyPr>
            <a:normAutofit fontScale="90000"/>
          </a:bodyPr>
          <a:lstStyle/>
          <a:p>
            <a:pPr algn="ctr"/>
            <a:r>
              <a:rPr lang="ru-RU" sz="4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Используемые архитектурные решения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82104" y="1890214"/>
            <a:ext cx="11087100" cy="4653887"/>
          </a:xfrm>
        </p:spPr>
        <p:txBody>
          <a:bodyPr>
            <a:noAutofit/>
          </a:bodyPr>
          <a:lstStyle/>
          <a:p>
            <a:pPr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Чистая архитектура (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Clean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Architecture)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разделение кода на три независимых слоя (данные, логика, интерфейс) для упрощения тестирования и поддержки;</a:t>
            </a:r>
          </a:p>
          <a:p>
            <a:pPr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MVVM (Model-View-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ViewModel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паттерн для связи интерфейса с данными, где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ViewModel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хранит состояние и логику отображения;</a:t>
            </a:r>
          </a:p>
          <a:p>
            <a:pPr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Repository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Pattern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абстракция над источниками данных для единого доступа к локальным и сетевым данным;</a:t>
            </a:r>
          </a:p>
          <a:p>
            <a:pPr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Реактивное программирование с 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StateFlow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Flow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автоматическое обновление интерфейса при изменении данных.</a:t>
            </a:r>
          </a:p>
        </p:txBody>
      </p:sp>
    </p:spTree>
    <p:extLst>
      <p:ext uri="{BB962C8B-B14F-4D97-AF65-F5344CB8AC3E}">
        <p14:creationId xmlns:p14="http://schemas.microsoft.com/office/powerpoint/2010/main" val="3352537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45057" y="225190"/>
            <a:ext cx="8291015" cy="758825"/>
          </a:xfrm>
          <a:noFill/>
        </p:spPr>
        <p:txBody>
          <a:bodyPr>
            <a:normAutofit fontScale="90000"/>
          </a:bodyPr>
          <a:lstStyle/>
          <a:p>
            <a:pPr algn="ctr"/>
            <a:r>
              <a:rPr lang="ru-RU" sz="4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Используемые библиотеки</a:t>
            </a:r>
            <a:br>
              <a:rPr lang="ru-RU" sz="4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40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82104" y="1890214"/>
            <a:ext cx="11087100" cy="4653887"/>
          </a:xfrm>
        </p:spPr>
        <p:txBody>
          <a:bodyPr>
            <a:noAutofit/>
          </a:bodyPr>
          <a:lstStyle/>
          <a:p>
            <a:pPr algn="just">
              <a:buFont typeface="+mj-lt"/>
              <a:buAutoNum type="arabicPeriod"/>
            </a:pPr>
            <a:r>
              <a:rPr lang="ru-RU" sz="2000" b="1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Jetpack</a:t>
            </a:r>
            <a:r>
              <a:rPr lang="ru-RU" sz="2000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b="1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Compose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- современный </a:t>
            </a:r>
            <a:r>
              <a:rPr lang="ru-RU" sz="2000" b="0" i="0" dirty="0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декларативный фреймворк для построения пользовательского интерфейса.</a:t>
            </a:r>
          </a:p>
          <a:p>
            <a:pPr algn="just">
              <a:buFont typeface="+mj-lt"/>
              <a:buAutoNum type="arabicPeriod"/>
            </a:pPr>
            <a:r>
              <a:rPr lang="ru-RU" sz="2000" b="1" i="0" dirty="0" err="1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Material</a:t>
            </a:r>
            <a:r>
              <a:rPr lang="ru-RU" sz="2000" b="1" i="0" dirty="0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Design 3</a:t>
            </a:r>
            <a:r>
              <a:rPr lang="ru-RU" sz="2000" b="0" i="0" dirty="0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 - библиотека компонентов для создания современного дизайна по гайдлайнам Google.</a:t>
            </a:r>
          </a:p>
          <a:p>
            <a:pPr algn="just">
              <a:buFont typeface="+mj-lt"/>
              <a:buAutoNum type="arabicPeriod"/>
            </a:pPr>
            <a:r>
              <a:rPr lang="ru-RU" sz="2000" b="1" i="0" dirty="0" err="1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Navigation</a:t>
            </a:r>
            <a:r>
              <a:rPr lang="ru-RU" sz="2000" b="1" i="0" dirty="0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b="1" i="0" dirty="0" err="1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Compose</a:t>
            </a:r>
            <a:r>
              <a:rPr lang="ru-RU" sz="2000" b="0" i="0" dirty="0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 - реализация навигации между экранами в </a:t>
            </a:r>
            <a:r>
              <a:rPr lang="ru-RU" sz="2000" b="0" i="0" dirty="0" err="1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Compose</a:t>
            </a:r>
            <a:r>
              <a:rPr lang="ru-RU" sz="2000" b="0" i="0" dirty="0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-приложениях.</a:t>
            </a:r>
          </a:p>
          <a:p>
            <a:pPr algn="just">
              <a:buFont typeface="+mj-lt"/>
              <a:buAutoNum type="arabicPeriod"/>
            </a:pPr>
            <a:r>
              <a:rPr lang="ru-RU" sz="2000" b="1" i="0" dirty="0" err="1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Retrofit</a:t>
            </a:r>
            <a:r>
              <a:rPr lang="ru-RU" sz="2000" b="0" i="0" dirty="0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 - HTTP-клиент для выполнения сетевых запросов к REST API.</a:t>
            </a:r>
          </a:p>
          <a:p>
            <a:pPr algn="just">
              <a:buFont typeface="+mj-lt"/>
              <a:buAutoNum type="arabicPeriod"/>
            </a:pPr>
            <a:r>
              <a:rPr lang="ru-RU" sz="2000" b="1" i="0" dirty="0" err="1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Gson</a:t>
            </a:r>
            <a:r>
              <a:rPr lang="ru-RU" sz="2000" b="0" i="0" dirty="0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 - конвертер для преобразования JSON-ответов в </a:t>
            </a:r>
            <a:r>
              <a:rPr lang="ru-RU" sz="2000" b="0" i="0" dirty="0" err="1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Kotlin</a:t>
            </a:r>
            <a:r>
              <a:rPr lang="ru-RU" sz="2000" b="0" i="0" dirty="0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-объекты.</a:t>
            </a:r>
          </a:p>
          <a:p>
            <a:pPr algn="just">
              <a:buFont typeface="+mj-lt"/>
              <a:buAutoNum type="arabicPeriod"/>
            </a:pPr>
            <a:r>
              <a:rPr lang="ru-RU" sz="2000" b="1" i="0" dirty="0" err="1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Room</a:t>
            </a:r>
            <a:r>
              <a:rPr lang="ru-RU" sz="2000" b="0" i="0" dirty="0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 - библиотека для работы с локальной SQL базой данных.</a:t>
            </a:r>
          </a:p>
          <a:p>
            <a:pPr algn="just">
              <a:buFont typeface="+mj-lt"/>
              <a:buAutoNum type="arabicPeriod"/>
            </a:pPr>
            <a:r>
              <a:rPr lang="ru-RU" sz="2000" b="1" i="0" dirty="0" err="1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Coroutines</a:t>
            </a:r>
            <a:r>
              <a:rPr lang="ru-RU" sz="2000" b="0" i="0" dirty="0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 - встроенная в </a:t>
            </a:r>
            <a:r>
              <a:rPr lang="ru-RU" sz="2000" b="0" i="0" dirty="0" err="1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Kotlin</a:t>
            </a:r>
            <a:r>
              <a:rPr lang="ru-RU" sz="2000" b="0" i="0" dirty="0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библиотека для асинхронного программирования.</a:t>
            </a:r>
          </a:p>
          <a:p>
            <a:pPr algn="just">
              <a:buFont typeface="+mj-lt"/>
              <a:buAutoNum type="arabicPeriod"/>
            </a:pPr>
            <a:r>
              <a:rPr lang="ru-RU" sz="2000" b="1" i="0" dirty="0" err="1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StateFlow</a:t>
            </a:r>
            <a:r>
              <a:rPr lang="ru-RU" sz="2000" b="1" i="0" dirty="0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ru-RU" sz="2000" b="1" i="0" dirty="0" err="1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Flow</a:t>
            </a:r>
            <a:r>
              <a:rPr lang="ru-RU" sz="2000" b="0" i="0" dirty="0">
                <a:solidFill>
                  <a:srgbClr val="0F1115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 - реактивные потоки данных для управления состоянием приложения.</a:t>
            </a:r>
          </a:p>
          <a:p>
            <a:pPr marL="0" indent="0" algn="just">
              <a:lnSpc>
                <a:spcPct val="150000"/>
              </a:lnSpc>
              <a:spcBef>
                <a:spcPts val="0"/>
              </a:spcBef>
              <a:buNone/>
            </a:pPr>
            <a:endParaRPr lang="ru-RU" sz="1600" b="0" i="0" dirty="0">
              <a:solidFill>
                <a:srgbClr val="0F1115"/>
              </a:solidFill>
              <a:effectLst/>
              <a:highlight>
                <a:srgbClr val="FFFFFF"/>
              </a:highlight>
              <a:latin typeface="quote-cjk-patch"/>
            </a:endParaRPr>
          </a:p>
          <a:p>
            <a:pPr algn="just">
              <a:lnSpc>
                <a:spcPct val="150000"/>
              </a:lnSpc>
              <a:spcBef>
                <a:spcPts val="0"/>
              </a:spcBef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514380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369</TotalTime>
  <Words>274</Words>
  <Application>Microsoft Office PowerPoint</Application>
  <PresentationFormat>Широкоэкранный</PresentationFormat>
  <Paragraphs>27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2" baseType="lpstr">
      <vt:lpstr>Arial</vt:lpstr>
      <vt:lpstr>Calibri</vt:lpstr>
      <vt:lpstr>Calibri Light</vt:lpstr>
      <vt:lpstr>quote-cjk-patch</vt:lpstr>
      <vt:lpstr>Times New Roman</vt:lpstr>
      <vt:lpstr>Wingdings</vt:lpstr>
      <vt:lpstr>Тема Office</vt:lpstr>
      <vt:lpstr>Презентация PowerPoint</vt:lpstr>
      <vt:lpstr>Реализация приложения</vt:lpstr>
      <vt:lpstr>Диаграмма вариантов использования</vt:lpstr>
      <vt:lpstr>Используемые архитектурные решения</vt:lpstr>
      <vt:lpstr>Используемые библиотеки 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 Windows</dc:creator>
  <cp:lastModifiedBy>Андрей Томин</cp:lastModifiedBy>
  <cp:revision>76</cp:revision>
  <dcterms:created xsi:type="dcterms:W3CDTF">2022-06-15T10:15:27Z</dcterms:created>
  <dcterms:modified xsi:type="dcterms:W3CDTF">2025-12-19T16:35:59Z</dcterms:modified>
</cp:coreProperties>
</file>